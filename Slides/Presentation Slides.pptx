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Urbanist" panose="020B060402020202020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57637" y="1257300"/>
            <a:ext cx="42767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05301" y="1957388"/>
            <a:ext cx="111813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Real-Time </a:t>
            </a:r>
            <a:r>
              <a:rPr lang="en-US" sz="63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BMS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Scheduling Simulator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71525" y="4168375"/>
            <a:ext cx="1064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ELECTRIC VEHICLE BATTERY MANAGEMENT SYSTEM</a:t>
            </a:r>
            <a:endParaRPr sz="1500"/>
          </a:p>
        </p:txBody>
      </p:sp>
      <p:sp>
        <p:nvSpPr>
          <p:cNvPr id="88" name="Google Shape;88;p13"/>
          <p:cNvSpPr txBox="1"/>
          <p:nvPr/>
        </p:nvSpPr>
        <p:spPr>
          <a:xfrm>
            <a:off x="4252912" y="1381125"/>
            <a:ext cx="3686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OS SEMESTER PROJECT | SPRING 2026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886075" y="5020878"/>
            <a:ext cx="3924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TEAM MEMBERS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2886075" y="5336037"/>
            <a:ext cx="392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Muhammad Ibrahim </a:t>
            </a:r>
            <a:r>
              <a:rPr lang="en-US" sz="15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(23i - 6090) 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7386255" y="5020878"/>
            <a:ext cx="1924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COURSE </a:t>
            </a:r>
            <a:r>
              <a:rPr lang="en-US" b="0" i="0" u="none" strike="noStrike" cap="none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INSTRUCTOR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7381874" y="5281137"/>
            <a:ext cx="2358361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Engr. Shehzad Ahmed</a:t>
            </a:r>
            <a:endParaRPr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2766091" y="5476875"/>
            <a:ext cx="4088070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Mohammad Ahtesam (23i - 6060)</a:t>
            </a:r>
            <a:endParaRPr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7381875" y="5672245"/>
            <a:ext cx="1924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LAB </a:t>
            </a:r>
            <a:r>
              <a:rPr lang="en-US" b="0" i="0" u="none" strike="noStrike" cap="none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INSTRUCTOR</a:t>
            </a:r>
            <a:endParaRPr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7381875" y="5896193"/>
            <a:ext cx="1924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Engr. </a:t>
            </a:r>
            <a:r>
              <a:rPr lang="en-US" sz="15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Ammar Ali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310556"/>
            <a:ext cx="503872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71525" y="2177206"/>
            <a:ext cx="503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Rate Monotonic Scheduling </a:t>
            </a:r>
            <a:r>
              <a:rPr lang="en-US" sz="2100" b="0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(RMS)</a:t>
            </a:r>
            <a:endParaRPr dirty="0"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320081"/>
            <a:ext cx="501967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1200150" y="2863006"/>
            <a:ext cx="4610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Fixed Priority: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Priorities are assigned statically based on task periods.</a:t>
            </a:r>
            <a:endParaRPr sz="1800"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1200150" y="3729781"/>
            <a:ext cx="4610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Frequency Rule: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Tasks with shorter periods (faster frequency) get higher priority.</a:t>
            </a:r>
            <a:endParaRPr sz="1800"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1200150" y="4596556"/>
            <a:ext cx="4610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Preemptive: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Higher priority tasks immediately interrupt lower ones.</a:t>
            </a:r>
            <a:endParaRPr sz="1800"/>
          </a:p>
        </p:txBody>
      </p:sp>
      <p:sp>
        <p:nvSpPr>
          <p:cNvPr id="107" name="Google Shape;107;p14"/>
          <p:cNvSpPr txBox="1"/>
          <p:nvPr/>
        </p:nvSpPr>
        <p:spPr>
          <a:xfrm>
            <a:off x="1200150" y="5463331"/>
            <a:ext cx="4610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Determinism: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Perfect for periodic sensor reading in hardware systems.</a:t>
            </a:r>
            <a:endParaRPr sz="1800"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2905869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3772644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4639419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1525" y="5506194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1000125" y="938956"/>
            <a:ext cx="10941367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Chosen Algorithm: RMS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771525" y="938956"/>
            <a:ext cx="76200" cy="5905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857375"/>
            <a:ext cx="3359050" cy="4525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6325" y="1857375"/>
            <a:ext cx="3359199" cy="4525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275" y="1857375"/>
            <a:ext cx="3359050" cy="4525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06850" y="5509550"/>
            <a:ext cx="2578149" cy="65871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1162050" y="3019425"/>
            <a:ext cx="2706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Safety Critical</a:t>
            </a:r>
            <a:endParaRPr sz="2200"/>
          </a:p>
        </p:txBody>
      </p:sp>
      <p:sp>
        <p:nvSpPr>
          <p:cNvPr id="124" name="Google Shape;124;p15"/>
          <p:cNvSpPr txBox="1"/>
          <p:nvPr/>
        </p:nvSpPr>
        <p:spPr>
          <a:xfrm>
            <a:off x="1162050" y="3552825"/>
            <a:ext cx="2577900" cy="18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Critical tasks like </a:t>
            </a:r>
            <a:r>
              <a:rPr lang="en-US" sz="17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Voltage Monitoring</a:t>
            </a:r>
            <a:r>
              <a:rPr lang="en-US" sz="17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must run every 100ms. RMS guarantees they aren't blocked by slow background logging.</a:t>
            </a:r>
            <a:endParaRPr sz="1700"/>
          </a:p>
        </p:txBody>
      </p:sp>
      <p:sp>
        <p:nvSpPr>
          <p:cNvPr id="125" name="Google Shape;125;p15"/>
          <p:cNvSpPr txBox="1"/>
          <p:nvPr/>
        </p:nvSpPr>
        <p:spPr>
          <a:xfrm>
            <a:off x="4806850" y="3019425"/>
            <a:ext cx="270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Predictability</a:t>
            </a:r>
            <a:endParaRPr sz="2200"/>
          </a:p>
        </p:txBody>
      </p:sp>
      <p:sp>
        <p:nvSpPr>
          <p:cNvPr id="126" name="Google Shape;126;p15"/>
          <p:cNvSpPr txBox="1"/>
          <p:nvPr/>
        </p:nvSpPr>
        <p:spPr>
          <a:xfrm>
            <a:off x="4806850" y="3552825"/>
            <a:ext cx="2578200" cy="18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Using the </a:t>
            </a:r>
            <a:r>
              <a:rPr lang="en-US" sz="17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Liu &amp; Layland Bound</a:t>
            </a:r>
            <a:r>
              <a:rPr lang="en-US" sz="17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we can mathematically prove zero deadline misses before execution.</a:t>
            </a:r>
            <a:endParaRPr sz="1700"/>
          </a:p>
        </p:txBody>
      </p:sp>
      <p:sp>
        <p:nvSpPr>
          <p:cNvPr id="127" name="Google Shape;127;p15"/>
          <p:cNvSpPr txBox="1"/>
          <p:nvPr/>
        </p:nvSpPr>
        <p:spPr>
          <a:xfrm>
            <a:off x="8451800" y="3019425"/>
            <a:ext cx="2706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Low Overhead</a:t>
            </a:r>
            <a:endParaRPr sz="2200"/>
          </a:p>
        </p:txBody>
      </p:sp>
      <p:sp>
        <p:nvSpPr>
          <p:cNvPr id="128" name="Google Shape;128;p15"/>
          <p:cNvSpPr txBox="1"/>
          <p:nvPr/>
        </p:nvSpPr>
        <p:spPr>
          <a:xfrm>
            <a:off x="8451800" y="3552825"/>
            <a:ext cx="2577900" cy="18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BMS requires simple, robust logic. RMS is easier to implement on microcontrollers compared to dynamic EDF scheduling.</a:t>
            </a:r>
            <a:endParaRPr sz="1700"/>
          </a:p>
        </p:txBody>
      </p:sp>
      <p:pic>
        <p:nvPicPr>
          <p:cNvPr id="129" name="Google Shape;12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62050" y="228600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06850" y="2286000"/>
            <a:ext cx="3143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97349" y="5700049"/>
            <a:ext cx="2197149" cy="277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51800" y="22860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1000125" y="885825"/>
            <a:ext cx="10941367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Why Choose RMS for BMS?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771525" y="885825"/>
            <a:ext cx="76200" cy="5905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963638"/>
            <a:ext cx="10648950" cy="431333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771525" y="2210544"/>
            <a:ext cx="10649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unified execution timeline from </a:t>
            </a:r>
            <a:r>
              <a:rPr lang="en-US" sz="17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0ms to 300ms</a:t>
            </a:r>
            <a:r>
              <a:rPr lang="en-US" sz="17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showing exactly which task occupies the CPU at any instant.</a:t>
            </a:r>
            <a:endParaRPr sz="1700"/>
          </a:p>
        </p:txBody>
      </p:sp>
      <p:pic>
        <p:nvPicPr>
          <p:cNvPr id="142" name="Google Shape;14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566811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1395412" y="5340969"/>
            <a:ext cx="9829800" cy="6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Analysis:</a:t>
            </a:r>
            <a:r>
              <a:rPr lang="en-US" sz="1700" b="0" i="0" u="none" strike="noStrike" cap="none" dirty="0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 The Logger (T5) remains blocked until 250ms because all other processes have higher priority. Preemption is visible at 100ms when VM (T1) interrupts CB (T4).</a:t>
            </a:r>
            <a:endParaRPr sz="1700" dirty="0"/>
          </a:p>
        </p:txBody>
      </p:sp>
      <p:sp>
        <p:nvSpPr>
          <p:cNvPr id="144" name="Google Shape;144;p16"/>
          <p:cNvSpPr txBox="1"/>
          <p:nvPr/>
        </p:nvSpPr>
        <p:spPr>
          <a:xfrm>
            <a:off x="1000125" y="992088"/>
            <a:ext cx="10941367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Single Gantt Chart (CPU Trace)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771525" y="992088"/>
            <a:ext cx="76200" cy="5905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20056"/>
            <a:ext cx="503872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353419"/>
            <a:ext cx="2424112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86137" y="2353419"/>
            <a:ext cx="2424112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771525" y="4106019"/>
            <a:ext cx="50388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simulation demonstrates that a Rate Monotonic Scheduler is highly effective for a BMS. By keeping utilization at 55% (well below the 69.3% theoretical limit), we ensure a safe buffer for hardware latency and unexpected tasks.</a:t>
            </a:r>
            <a:endParaRPr sz="1800"/>
          </a:p>
        </p:txBody>
      </p:sp>
      <p:pic>
        <p:nvPicPr>
          <p:cNvPr id="155" name="Google Shape;15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1275" y="2129581"/>
            <a:ext cx="501967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1020960" y="2648694"/>
            <a:ext cx="192524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55%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066800" y="3201144"/>
            <a:ext cx="183356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CPU UTILIZATION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3635573" y="2648694"/>
            <a:ext cx="192524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0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3681412" y="3201144"/>
            <a:ext cx="183356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DEADLINE MISSES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000125" y="992088"/>
            <a:ext cx="10941367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Performance Summary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771525" y="992088"/>
            <a:ext cx="76200" cy="5905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283</Words>
  <Application>Microsoft Office PowerPoint</Application>
  <PresentationFormat>Widescreen</PresentationFormat>
  <Paragraphs>32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Arial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Muhammad Ibrahim</cp:lastModifiedBy>
  <cp:revision>2</cp:revision>
  <dcterms:modified xsi:type="dcterms:W3CDTF">2026-06-08T19:29:44Z</dcterms:modified>
</cp:coreProperties>
</file>